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8"/>
  </p:notesMasterIdLst>
  <p:sldIdLst>
    <p:sldId id="257" r:id="rId2"/>
    <p:sldId id="267" r:id="rId3"/>
    <p:sldId id="269" r:id="rId4"/>
    <p:sldId id="258" r:id="rId5"/>
    <p:sldId id="259" r:id="rId6"/>
    <p:sldId id="260" r:id="rId7"/>
    <p:sldId id="262" r:id="rId8"/>
    <p:sldId id="274" r:id="rId9"/>
    <p:sldId id="263" r:id="rId10"/>
    <p:sldId id="264" r:id="rId11"/>
    <p:sldId id="266" r:id="rId12"/>
    <p:sldId id="268" r:id="rId13"/>
    <p:sldId id="270" r:id="rId14"/>
    <p:sldId id="271" r:id="rId15"/>
    <p:sldId id="273" r:id="rId16"/>
    <p:sldId id="27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E7E6"/>
    <a:srgbClr val="97730D"/>
    <a:srgbClr val="9B9109"/>
    <a:srgbClr val="1297C0"/>
    <a:srgbClr val="AF2C22"/>
    <a:srgbClr val="F8F3EE"/>
    <a:srgbClr val="8D3F3F"/>
    <a:srgbClr val="763E3A"/>
    <a:srgbClr val="AE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1985" autoAdjust="0"/>
  </p:normalViewPr>
  <p:slideViewPr>
    <p:cSldViewPr snapToGrid="0">
      <p:cViewPr varScale="1">
        <p:scale>
          <a:sx n="83" d="100"/>
          <a:sy n="83" d="100"/>
        </p:scale>
        <p:origin x="379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65EBD-3A05-44B6-BB1E-B49BC866728F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5650A-93E9-4B09-90DB-AFA4D00640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170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B5650A-93E9-4B09-90DB-AFA4D00640B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907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3B8DC-0952-4A86-A46F-84C6FBC90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860" y="2133600"/>
            <a:ext cx="11301653" cy="1279931"/>
          </a:xfrm>
        </p:spPr>
        <p:txBody>
          <a:bodyPr anchor="b"/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4A7469-A431-4B0F-8CC5-9ACBA04A9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813" y="3541508"/>
            <a:ext cx="11315700" cy="454573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EAD468B-28E3-4DAF-9A69-192ABDC3BB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924" y="5434342"/>
            <a:ext cx="11309589" cy="50958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Фамилия Имя Отчество автора презентации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39280C22-551C-4D74-A069-F705A535D0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5969000"/>
            <a:ext cx="11315700" cy="344488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ru-RU"/>
              <a:t>должность</a:t>
            </a:r>
          </a:p>
        </p:txBody>
      </p:sp>
      <p:pic>
        <p:nvPicPr>
          <p:cNvPr id="1026" name="Picture 2" descr="\\ad.pu.ru\RECTORAT\УСО\ДИЗАЙНЕРЫ\300 лет СПбГУ\300 лет логотипы все варианты\Logo 300 let classic 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07" y="436563"/>
            <a:ext cx="3773202" cy="115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884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  <p15:guide id="2" orient="horz" pos="3420" userDrawn="1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3B8DC-0952-4A86-A46F-84C6FBC90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860" y="2133600"/>
            <a:ext cx="11301653" cy="1279931"/>
          </a:xfrm>
        </p:spPr>
        <p:txBody>
          <a:bodyPr anchor="b"/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4A7469-A431-4B0F-8CC5-9ACBA04A9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813" y="3541508"/>
            <a:ext cx="11315700" cy="454573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EAD468B-28E3-4DAF-9A69-192ABDC3BB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924" y="5434342"/>
            <a:ext cx="11309589" cy="50958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Фамилия Имя Отчество автора презентации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39280C22-551C-4D74-A069-F705A535D0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5969000"/>
            <a:ext cx="11315700" cy="344488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ru-RU"/>
              <a:t>должность</a:t>
            </a:r>
          </a:p>
        </p:txBody>
      </p:sp>
      <p:pic>
        <p:nvPicPr>
          <p:cNvPr id="7" name="Picture 2" descr="\\ad.pu.ru\RECTORAT\УСО\ДИЗАЙНЕРЫ\300 лет СПбГУ\300 лет логотипы все варианты\Logo 300 let classic 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07" y="436563"/>
            <a:ext cx="3773202" cy="115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77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  <p15:guide id="2" orient="horz" pos="342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C525E9-9F3B-42CF-A9BF-4E5E38DDB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Обложка раздела</a:t>
            </a:r>
            <a:br>
              <a:rPr lang="ru-RU" dirty="0"/>
            </a:br>
            <a:r>
              <a:rPr lang="ru-RU" dirty="0"/>
              <a:t>Текст заголовка (60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9E5A0C-2C95-4C07-B7BF-EBC87A9BF76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81671"/>
            <a:ext cx="10515600" cy="130797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Подпись к заголовку если нужна (24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814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E102D-08FD-409F-8B56-BFA75528F6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125" y="159087"/>
            <a:ext cx="10303852" cy="8251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 (32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6654CC-2347-424D-A8D4-38BAFE30D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21C3A1-925D-4033-8C20-8658DEF79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FD38E61-9C24-476F-BFBC-20F0EEEA3A3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D15C5A-2BF4-4BA8-B542-593029D1F2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19737" y="1268413"/>
            <a:ext cx="6454775" cy="5045075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014087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791CE2-49E5-4E09-B668-6FE4BBF5A8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65100"/>
            <a:ext cx="10258425" cy="81915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  <a:r>
              <a:rPr lang="en-US" dirty="0"/>
              <a:t> </a:t>
            </a:r>
            <a:r>
              <a:rPr lang="ru-RU" dirty="0"/>
              <a:t>(32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09F54D-5ADC-49C9-9C83-305A12875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1" y="984250"/>
            <a:ext cx="514350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E6009E-582C-474A-B850-8E10A50FF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8601" y="1990724"/>
            <a:ext cx="5143500" cy="43227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72B6B8C-2723-47AE-80BF-06931B025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19737" y="984250"/>
            <a:ext cx="6454775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0EA771-1BC1-4EED-BBC5-C7E3CA7BD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19737" y="2000250"/>
            <a:ext cx="6454775" cy="43132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5E0A346-6578-4F9E-AB9F-59E260156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FD38E61-9C24-476F-BFBC-20F0EEEA3A3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09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2407B-6BBD-443A-A3AE-F0277ECE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940" y="984249"/>
            <a:ext cx="4673574" cy="116522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03C8D6F-5218-4F32-9AF0-ABE98BFD0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-1" y="0"/>
            <a:ext cx="6819901" cy="68580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1BB841-153F-4BEB-A824-51D3EB0A5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96150" y="2149475"/>
            <a:ext cx="4678363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3B5B0F-21C4-4702-9B0A-11D6FD27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FD38E61-9C24-476F-BFBC-20F0EEEA3A3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78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3B5B0F-21C4-4702-9B0A-11D6FD27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FD38E61-9C24-476F-BFBC-20F0EEEA3A3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03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3B5B0F-21C4-4702-9B0A-11D6FD27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FD38E61-9C24-476F-BFBC-20F0EEEA3A3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26CDCCB-318B-47A4-B680-64479CBA23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65100"/>
            <a:ext cx="10258425" cy="554566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  <a:r>
              <a:rPr lang="en-US" dirty="0"/>
              <a:t> </a:t>
            </a:r>
            <a:r>
              <a:rPr lang="ru-RU" dirty="0"/>
              <a:t>(32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7A7464D1-3A79-4B37-BA26-FF713B9AA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41622" y="984250"/>
            <a:ext cx="442177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04018A3F-0599-4B69-9B2B-FA99A7A98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41622" y="2149474"/>
            <a:ext cx="4421778" cy="416401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74411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5DD82A-3CD2-4710-8A50-CDE10716E6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5461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085A5EE-99E6-428A-AD39-E0EF175641CE}"/>
              </a:ext>
            </a:extLst>
          </p:cNvPr>
          <p:cNvSpPr/>
          <p:nvPr userDrawn="1"/>
        </p:nvSpPr>
        <p:spPr>
          <a:xfrm>
            <a:off x="0" y="2019301"/>
            <a:ext cx="12192000" cy="34480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82081E8-5FB6-4BC1-9B97-161ABBCD8CB1}"/>
              </a:ext>
            </a:extLst>
          </p:cNvPr>
          <p:cNvGrpSpPr/>
          <p:nvPr userDrawn="1"/>
        </p:nvGrpSpPr>
        <p:grpSpPr>
          <a:xfrm>
            <a:off x="12321661" y="3684546"/>
            <a:ext cx="1103562" cy="2445980"/>
            <a:chOff x="12321661" y="3684546"/>
            <a:chExt cx="1103562" cy="2445980"/>
          </a:xfrm>
        </p:grpSpPr>
        <p:sp>
          <p:nvSpPr>
            <p:cNvPr id="9" name="Прямоугольник: скругленные противолежащие углы 8">
              <a:extLst>
                <a:ext uri="{FF2B5EF4-FFF2-40B4-BE49-F238E27FC236}">
                  <a16:creationId xmlns:a16="http://schemas.microsoft.com/office/drawing/2014/main" id="{5FF42451-9C38-4570-BB2C-81C8745D2B84}"/>
                </a:ext>
              </a:extLst>
            </p:cNvPr>
            <p:cNvSpPr/>
            <p:nvPr userDrawn="1"/>
          </p:nvSpPr>
          <p:spPr>
            <a:xfrm>
              <a:off x="12321661" y="3684546"/>
              <a:ext cx="1103562" cy="422429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CD4101-5E30-4760-B1C2-C75578F5F937}"/>
                </a:ext>
              </a:extLst>
            </p:cNvPr>
            <p:cNvSpPr txBox="1"/>
            <p:nvPr userDrawn="1"/>
          </p:nvSpPr>
          <p:spPr>
            <a:xfrm>
              <a:off x="12427169" y="3780118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175 / 44 / 34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1" name="Прямоугольник: скругленные противолежащие углы 10">
              <a:extLst>
                <a:ext uri="{FF2B5EF4-FFF2-40B4-BE49-F238E27FC236}">
                  <a16:creationId xmlns:a16="http://schemas.microsoft.com/office/drawing/2014/main" id="{DA5FAF91-3998-4AD3-A222-7BB6383C2C54}"/>
                </a:ext>
              </a:extLst>
            </p:cNvPr>
            <p:cNvSpPr/>
            <p:nvPr userDrawn="1"/>
          </p:nvSpPr>
          <p:spPr>
            <a:xfrm>
              <a:off x="12321661" y="4195929"/>
              <a:ext cx="1103562" cy="422429"/>
            </a:xfrm>
            <a:prstGeom prst="round2Diag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38BC6B-7D75-4527-B7B0-759083C8F3B7}"/>
                </a:ext>
              </a:extLst>
            </p:cNvPr>
            <p:cNvSpPr txBox="1"/>
            <p:nvPr userDrawn="1"/>
          </p:nvSpPr>
          <p:spPr>
            <a:xfrm>
              <a:off x="12427169" y="4291501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200 / 160 / 110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3" name="Прямоугольник: скругленные противолежащие углы 12">
              <a:extLst>
                <a:ext uri="{FF2B5EF4-FFF2-40B4-BE49-F238E27FC236}">
                  <a16:creationId xmlns:a16="http://schemas.microsoft.com/office/drawing/2014/main" id="{7687D65C-28A3-4D9E-9F8C-537C6811FD9D}"/>
                </a:ext>
              </a:extLst>
            </p:cNvPr>
            <p:cNvSpPr/>
            <p:nvPr userDrawn="1"/>
          </p:nvSpPr>
          <p:spPr>
            <a:xfrm>
              <a:off x="12321661" y="4699985"/>
              <a:ext cx="1103562" cy="422429"/>
            </a:xfrm>
            <a:prstGeom prst="round2Diag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ABCB55-F639-4E4F-898F-9A24FC737890}"/>
                </a:ext>
              </a:extLst>
            </p:cNvPr>
            <p:cNvSpPr txBox="1"/>
            <p:nvPr userDrawn="1"/>
          </p:nvSpPr>
          <p:spPr>
            <a:xfrm>
              <a:off x="12427169" y="4795557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201 / 188 / 171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5" name="Прямоугольник: скругленные противолежащие углы 14">
              <a:extLst>
                <a:ext uri="{FF2B5EF4-FFF2-40B4-BE49-F238E27FC236}">
                  <a16:creationId xmlns:a16="http://schemas.microsoft.com/office/drawing/2014/main" id="{66595322-CC12-44A6-B026-357D239D72A5}"/>
                </a:ext>
              </a:extLst>
            </p:cNvPr>
            <p:cNvSpPr/>
            <p:nvPr userDrawn="1"/>
          </p:nvSpPr>
          <p:spPr>
            <a:xfrm>
              <a:off x="12321661" y="5204041"/>
              <a:ext cx="1103562" cy="422429"/>
            </a:xfrm>
            <a:prstGeom prst="round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1050B67-BB92-4FA6-BD44-E24E01034DE1}"/>
                </a:ext>
              </a:extLst>
            </p:cNvPr>
            <p:cNvSpPr txBox="1"/>
            <p:nvPr userDrawn="1"/>
          </p:nvSpPr>
          <p:spPr>
            <a:xfrm>
              <a:off x="12427169" y="5299613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135 / 135 / 135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7" name="Прямоугольник: скругленные противолежащие углы 16">
              <a:extLst>
                <a:ext uri="{FF2B5EF4-FFF2-40B4-BE49-F238E27FC236}">
                  <a16:creationId xmlns:a16="http://schemas.microsoft.com/office/drawing/2014/main" id="{8507C5BE-4D8C-4FD9-BE86-CF2F3605F46A}"/>
                </a:ext>
              </a:extLst>
            </p:cNvPr>
            <p:cNvSpPr/>
            <p:nvPr userDrawn="1"/>
          </p:nvSpPr>
          <p:spPr>
            <a:xfrm>
              <a:off x="12321661" y="5708097"/>
              <a:ext cx="1103562" cy="422429"/>
            </a:xfrm>
            <a:prstGeom prst="round2DiagRect">
              <a:avLst/>
            </a:prstGeom>
            <a:solidFill>
              <a:srgbClr val="8D3F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819EEF-526C-472B-A95C-82B3A18F8594}"/>
                </a:ext>
              </a:extLst>
            </p:cNvPr>
            <p:cNvSpPr txBox="1"/>
            <p:nvPr userDrawn="1"/>
          </p:nvSpPr>
          <p:spPr>
            <a:xfrm>
              <a:off x="12427169" y="5803669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141 / 63 / 63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</p:grpSp>
      <p:sp>
        <p:nvSpPr>
          <p:cNvPr id="22" name="Текст 21">
            <a:extLst>
              <a:ext uri="{FF2B5EF4-FFF2-40B4-BE49-F238E27FC236}">
                <a16:creationId xmlns:a16="http://schemas.microsoft.com/office/drawing/2014/main" id="{DD5C995D-87B4-49F3-955D-B6DB929819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2876550"/>
            <a:ext cx="4713287" cy="15430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Санкт-Петербург, </a:t>
            </a:r>
            <a:br>
              <a:rPr lang="ru-RU"/>
            </a:br>
            <a:r>
              <a:rPr lang="ru-RU"/>
              <a:t>Университетская наб., 7-9</a:t>
            </a:r>
            <a:br>
              <a:rPr lang="ru-RU"/>
            </a:br>
            <a:r>
              <a:rPr lang="ru-RU"/>
              <a:t>тел.: +7 (812) 360 60 30</a:t>
            </a:r>
            <a:endParaRPr lang="en-US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8A97BB59-DCB0-4174-BA89-80ED4B78CB7E}"/>
              </a:ext>
            </a:extLst>
          </p:cNvPr>
          <p:cNvSpPr txBox="1">
            <a:spLocks/>
          </p:cNvSpPr>
          <p:nvPr userDrawn="1"/>
        </p:nvSpPr>
        <p:spPr>
          <a:xfrm>
            <a:off x="10050463" y="5929313"/>
            <a:ext cx="1665287" cy="5016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spbu.ru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70FF6BF-7C1A-423C-AD50-47016508D6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4" y="675239"/>
            <a:ext cx="2568644" cy="789472"/>
          </a:xfrm>
          <a:prstGeom prst="rect">
            <a:avLst/>
          </a:prstGeom>
        </p:spPr>
      </p:pic>
      <p:sp>
        <p:nvSpPr>
          <p:cNvPr id="25" name="Текст 21">
            <a:extLst>
              <a:ext uri="{FF2B5EF4-FFF2-40B4-BE49-F238E27FC236}">
                <a16:creationId xmlns:a16="http://schemas.microsoft.com/office/drawing/2014/main" id="{8E9F1B28-F2B0-4A9D-B1A3-A93A3C460D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19936" y="2876550"/>
            <a:ext cx="4713287" cy="15430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mail@spbu.ru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350E5A0-40F8-43A3-841B-6A4893C9040D}"/>
              </a:ext>
            </a:extLst>
          </p:cNvPr>
          <p:cNvSpPr/>
          <p:nvPr userDrawn="1"/>
        </p:nvSpPr>
        <p:spPr>
          <a:xfrm>
            <a:off x="664709" y="2154089"/>
            <a:ext cx="18674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584346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Вертикальный 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085A5EE-99E6-428A-AD39-E0EF175641CE}"/>
              </a:ext>
            </a:extLst>
          </p:cNvPr>
          <p:cNvSpPr/>
          <p:nvPr userDrawn="1"/>
        </p:nvSpPr>
        <p:spPr>
          <a:xfrm>
            <a:off x="0" y="2019301"/>
            <a:ext cx="12192000" cy="3448050"/>
          </a:xfrm>
          <a:prstGeom prst="rect">
            <a:avLst/>
          </a:prstGeom>
          <a:solidFill>
            <a:schemeClr val="bg2">
              <a:lumMod val="9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82081E8-5FB6-4BC1-9B97-161ABBCD8CB1}"/>
              </a:ext>
            </a:extLst>
          </p:cNvPr>
          <p:cNvGrpSpPr/>
          <p:nvPr userDrawn="1"/>
        </p:nvGrpSpPr>
        <p:grpSpPr>
          <a:xfrm>
            <a:off x="12321661" y="3684546"/>
            <a:ext cx="1103562" cy="2445980"/>
            <a:chOff x="12321661" y="3684546"/>
            <a:chExt cx="1103562" cy="2445980"/>
          </a:xfrm>
        </p:grpSpPr>
        <p:sp>
          <p:nvSpPr>
            <p:cNvPr id="9" name="Прямоугольник: скругленные противолежащие углы 8">
              <a:extLst>
                <a:ext uri="{FF2B5EF4-FFF2-40B4-BE49-F238E27FC236}">
                  <a16:creationId xmlns:a16="http://schemas.microsoft.com/office/drawing/2014/main" id="{5FF42451-9C38-4570-BB2C-81C8745D2B84}"/>
                </a:ext>
              </a:extLst>
            </p:cNvPr>
            <p:cNvSpPr/>
            <p:nvPr userDrawn="1"/>
          </p:nvSpPr>
          <p:spPr>
            <a:xfrm>
              <a:off x="12321661" y="3684546"/>
              <a:ext cx="1103562" cy="422429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CD4101-5E30-4760-B1C2-C75578F5F937}"/>
                </a:ext>
              </a:extLst>
            </p:cNvPr>
            <p:cNvSpPr txBox="1"/>
            <p:nvPr userDrawn="1"/>
          </p:nvSpPr>
          <p:spPr>
            <a:xfrm>
              <a:off x="12427169" y="3780118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175 / 44 / 34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1" name="Прямоугольник: скругленные противолежащие углы 10">
              <a:extLst>
                <a:ext uri="{FF2B5EF4-FFF2-40B4-BE49-F238E27FC236}">
                  <a16:creationId xmlns:a16="http://schemas.microsoft.com/office/drawing/2014/main" id="{DA5FAF91-3998-4AD3-A222-7BB6383C2C54}"/>
                </a:ext>
              </a:extLst>
            </p:cNvPr>
            <p:cNvSpPr/>
            <p:nvPr userDrawn="1"/>
          </p:nvSpPr>
          <p:spPr>
            <a:xfrm>
              <a:off x="12321661" y="4195929"/>
              <a:ext cx="1103562" cy="422429"/>
            </a:xfrm>
            <a:prstGeom prst="round2Diag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38BC6B-7D75-4527-B7B0-759083C8F3B7}"/>
                </a:ext>
              </a:extLst>
            </p:cNvPr>
            <p:cNvSpPr txBox="1"/>
            <p:nvPr userDrawn="1"/>
          </p:nvSpPr>
          <p:spPr>
            <a:xfrm>
              <a:off x="12427169" y="4291501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200 / 160 / 110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3" name="Прямоугольник: скругленные противолежащие углы 12">
              <a:extLst>
                <a:ext uri="{FF2B5EF4-FFF2-40B4-BE49-F238E27FC236}">
                  <a16:creationId xmlns:a16="http://schemas.microsoft.com/office/drawing/2014/main" id="{7687D65C-28A3-4D9E-9F8C-537C6811FD9D}"/>
                </a:ext>
              </a:extLst>
            </p:cNvPr>
            <p:cNvSpPr/>
            <p:nvPr userDrawn="1"/>
          </p:nvSpPr>
          <p:spPr>
            <a:xfrm>
              <a:off x="12321661" y="4699985"/>
              <a:ext cx="1103562" cy="422429"/>
            </a:xfrm>
            <a:prstGeom prst="round2Diag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ABCB55-F639-4E4F-898F-9A24FC737890}"/>
                </a:ext>
              </a:extLst>
            </p:cNvPr>
            <p:cNvSpPr txBox="1"/>
            <p:nvPr userDrawn="1"/>
          </p:nvSpPr>
          <p:spPr>
            <a:xfrm>
              <a:off x="12427169" y="4795557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201 / 188 / 171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5" name="Прямоугольник: скругленные противолежащие углы 14">
              <a:extLst>
                <a:ext uri="{FF2B5EF4-FFF2-40B4-BE49-F238E27FC236}">
                  <a16:creationId xmlns:a16="http://schemas.microsoft.com/office/drawing/2014/main" id="{66595322-CC12-44A6-B026-357D239D72A5}"/>
                </a:ext>
              </a:extLst>
            </p:cNvPr>
            <p:cNvSpPr/>
            <p:nvPr userDrawn="1"/>
          </p:nvSpPr>
          <p:spPr>
            <a:xfrm>
              <a:off x="12321661" y="5204041"/>
              <a:ext cx="1103562" cy="422429"/>
            </a:xfrm>
            <a:prstGeom prst="round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1050B67-BB92-4FA6-BD44-E24E01034DE1}"/>
                </a:ext>
              </a:extLst>
            </p:cNvPr>
            <p:cNvSpPr txBox="1"/>
            <p:nvPr userDrawn="1"/>
          </p:nvSpPr>
          <p:spPr>
            <a:xfrm>
              <a:off x="12427169" y="5299613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135 / 135 / 135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7" name="Прямоугольник: скругленные противолежащие углы 16">
              <a:extLst>
                <a:ext uri="{FF2B5EF4-FFF2-40B4-BE49-F238E27FC236}">
                  <a16:creationId xmlns:a16="http://schemas.microsoft.com/office/drawing/2014/main" id="{8507C5BE-4D8C-4FD9-BE86-CF2F3605F46A}"/>
                </a:ext>
              </a:extLst>
            </p:cNvPr>
            <p:cNvSpPr/>
            <p:nvPr userDrawn="1"/>
          </p:nvSpPr>
          <p:spPr>
            <a:xfrm>
              <a:off x="12321661" y="5708097"/>
              <a:ext cx="1103562" cy="422429"/>
            </a:xfrm>
            <a:prstGeom prst="round2DiagRect">
              <a:avLst/>
            </a:prstGeom>
            <a:solidFill>
              <a:srgbClr val="8D3F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819EEF-526C-472B-A95C-82B3A18F8594}"/>
                </a:ext>
              </a:extLst>
            </p:cNvPr>
            <p:cNvSpPr txBox="1"/>
            <p:nvPr userDrawn="1"/>
          </p:nvSpPr>
          <p:spPr>
            <a:xfrm>
              <a:off x="12427169" y="5803669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141 / 63 / 63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</p:grpSp>
      <p:sp>
        <p:nvSpPr>
          <p:cNvPr id="22" name="Текст 21">
            <a:extLst>
              <a:ext uri="{FF2B5EF4-FFF2-40B4-BE49-F238E27FC236}">
                <a16:creationId xmlns:a16="http://schemas.microsoft.com/office/drawing/2014/main" id="{DD5C995D-87B4-49F3-955D-B6DB929819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2876550"/>
            <a:ext cx="4713287" cy="15430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Санкт-Петербург, </a:t>
            </a:r>
            <a:br>
              <a:rPr lang="ru-RU"/>
            </a:br>
            <a:r>
              <a:rPr lang="ru-RU"/>
              <a:t>Университетская наб., 7-9</a:t>
            </a:r>
            <a:br>
              <a:rPr lang="ru-RU"/>
            </a:br>
            <a:r>
              <a:rPr lang="ru-RU"/>
              <a:t>тел.: +7 (812) 360 60 30</a:t>
            </a:r>
            <a:endParaRPr lang="en-US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8A97BB59-DCB0-4174-BA89-80ED4B78CB7E}"/>
              </a:ext>
            </a:extLst>
          </p:cNvPr>
          <p:cNvSpPr txBox="1">
            <a:spLocks/>
          </p:cNvSpPr>
          <p:nvPr userDrawn="1"/>
        </p:nvSpPr>
        <p:spPr>
          <a:xfrm>
            <a:off x="10050463" y="5929313"/>
            <a:ext cx="1665287" cy="5016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spbu.ru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70FF6BF-7C1A-423C-AD50-47016508D6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4" y="675239"/>
            <a:ext cx="2568644" cy="789472"/>
          </a:xfrm>
          <a:prstGeom prst="rect">
            <a:avLst/>
          </a:prstGeom>
        </p:spPr>
      </p:pic>
      <p:sp>
        <p:nvSpPr>
          <p:cNvPr id="25" name="Текст 21">
            <a:extLst>
              <a:ext uri="{FF2B5EF4-FFF2-40B4-BE49-F238E27FC236}">
                <a16:creationId xmlns:a16="http://schemas.microsoft.com/office/drawing/2014/main" id="{8E9F1B28-F2B0-4A9D-B1A3-A93A3C460D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19936" y="2876550"/>
            <a:ext cx="4713287" cy="15430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mail@spbu.ru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350E5A0-40F8-43A3-841B-6A4893C9040D}"/>
              </a:ext>
            </a:extLst>
          </p:cNvPr>
          <p:cNvSpPr/>
          <p:nvPr userDrawn="1"/>
        </p:nvSpPr>
        <p:spPr>
          <a:xfrm>
            <a:off x="664709" y="2154089"/>
            <a:ext cx="18674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94721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D3A3D1-9BB5-47FB-9DDD-9C36A3631E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263"/>
          <a:stretch/>
        </p:blipFill>
        <p:spPr>
          <a:xfrm>
            <a:off x="9877789" y="0"/>
            <a:ext cx="2314212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F16899-AC2B-4C56-A816-AB82758D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159087"/>
            <a:ext cx="10303852" cy="5406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2 строки (32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C3EC6B-FFB0-4869-867F-6AE3C4F3D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125" y="1268414"/>
            <a:ext cx="11777702" cy="5045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2A2829-CFDA-45D3-8A5B-9E60806B9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376" y="6460602"/>
            <a:ext cx="663632" cy="239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1FD38E61-9C24-476F-BFBC-20F0EEEA3A3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A9D1F1-273C-4BD3-8CA6-4BF78E8CDF1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074" y="259539"/>
            <a:ext cx="1303494" cy="430489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941D7AB-8FCD-483E-8DAA-006829C580C7}"/>
              </a:ext>
            </a:extLst>
          </p:cNvPr>
          <p:cNvSpPr/>
          <p:nvPr userDrawn="1"/>
        </p:nvSpPr>
        <p:spPr>
          <a:xfrm flipV="1">
            <a:off x="11456377" y="6699738"/>
            <a:ext cx="735623" cy="67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E78389A-057B-48CF-A8CE-D14B97B11615}"/>
              </a:ext>
            </a:extLst>
          </p:cNvPr>
          <p:cNvGrpSpPr/>
          <p:nvPr userDrawn="1"/>
        </p:nvGrpSpPr>
        <p:grpSpPr>
          <a:xfrm>
            <a:off x="12353840" y="159087"/>
            <a:ext cx="1103562" cy="2966485"/>
            <a:chOff x="12321661" y="3684546"/>
            <a:chExt cx="1103562" cy="2966485"/>
          </a:xfrm>
        </p:grpSpPr>
        <p:sp>
          <p:nvSpPr>
            <p:cNvPr id="12" name="Прямоугольник: скругленные противолежащие углы 11">
              <a:extLst>
                <a:ext uri="{FF2B5EF4-FFF2-40B4-BE49-F238E27FC236}">
                  <a16:creationId xmlns:a16="http://schemas.microsoft.com/office/drawing/2014/main" id="{B2B3E62E-A24E-434A-929B-25829454737E}"/>
                </a:ext>
              </a:extLst>
            </p:cNvPr>
            <p:cNvSpPr/>
            <p:nvPr userDrawn="1"/>
          </p:nvSpPr>
          <p:spPr>
            <a:xfrm>
              <a:off x="12321661" y="3684546"/>
              <a:ext cx="1103562" cy="422429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6E1949D-1C32-4A70-8678-7C819B40B60D}"/>
                </a:ext>
              </a:extLst>
            </p:cNvPr>
            <p:cNvSpPr txBox="1"/>
            <p:nvPr userDrawn="1"/>
          </p:nvSpPr>
          <p:spPr>
            <a:xfrm>
              <a:off x="12427169" y="3780118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175 / 44 / 34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28" name="Прямоугольник: скругленные противолежащие углы 27">
              <a:extLst>
                <a:ext uri="{FF2B5EF4-FFF2-40B4-BE49-F238E27FC236}">
                  <a16:creationId xmlns:a16="http://schemas.microsoft.com/office/drawing/2014/main" id="{4776BFFF-5E73-4E7D-A0D9-99872241F2B2}"/>
                </a:ext>
              </a:extLst>
            </p:cNvPr>
            <p:cNvSpPr/>
            <p:nvPr userDrawn="1"/>
          </p:nvSpPr>
          <p:spPr>
            <a:xfrm>
              <a:off x="12321661" y="4195929"/>
              <a:ext cx="1103562" cy="422429"/>
            </a:xfrm>
            <a:prstGeom prst="round2Diag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3F9540-449A-4692-99CA-BDE6949562A2}"/>
                </a:ext>
              </a:extLst>
            </p:cNvPr>
            <p:cNvSpPr txBox="1"/>
            <p:nvPr userDrawn="1"/>
          </p:nvSpPr>
          <p:spPr>
            <a:xfrm>
              <a:off x="12427169" y="4291501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200 / 160 / 110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30" name="Прямоугольник: скругленные противолежащие углы 29">
              <a:extLst>
                <a:ext uri="{FF2B5EF4-FFF2-40B4-BE49-F238E27FC236}">
                  <a16:creationId xmlns:a16="http://schemas.microsoft.com/office/drawing/2014/main" id="{6D82FDF5-DD35-457B-84BE-77AA4526263E}"/>
                </a:ext>
              </a:extLst>
            </p:cNvPr>
            <p:cNvSpPr/>
            <p:nvPr userDrawn="1"/>
          </p:nvSpPr>
          <p:spPr>
            <a:xfrm>
              <a:off x="12321661" y="4699985"/>
              <a:ext cx="1103562" cy="422429"/>
            </a:xfrm>
            <a:prstGeom prst="round2Diag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481E95C-9EE2-438D-A653-F7FF76BE6E1C}"/>
                </a:ext>
              </a:extLst>
            </p:cNvPr>
            <p:cNvSpPr txBox="1"/>
            <p:nvPr userDrawn="1"/>
          </p:nvSpPr>
          <p:spPr>
            <a:xfrm>
              <a:off x="12427169" y="4795557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201 / 188 / 171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32" name="Прямоугольник: скругленные противолежащие углы 31">
              <a:extLst>
                <a:ext uri="{FF2B5EF4-FFF2-40B4-BE49-F238E27FC236}">
                  <a16:creationId xmlns:a16="http://schemas.microsoft.com/office/drawing/2014/main" id="{4610D740-ECD4-4242-8922-98D065333B3B}"/>
                </a:ext>
              </a:extLst>
            </p:cNvPr>
            <p:cNvSpPr/>
            <p:nvPr userDrawn="1"/>
          </p:nvSpPr>
          <p:spPr>
            <a:xfrm>
              <a:off x="12321661" y="5204041"/>
              <a:ext cx="1103562" cy="422429"/>
            </a:xfrm>
            <a:prstGeom prst="round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07F132A-E7E4-438D-818F-24163BFB1BF9}"/>
                </a:ext>
              </a:extLst>
            </p:cNvPr>
            <p:cNvSpPr txBox="1"/>
            <p:nvPr userDrawn="1"/>
          </p:nvSpPr>
          <p:spPr>
            <a:xfrm>
              <a:off x="12427169" y="5299613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135 / 135 / 135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34" name="Прямоугольник: скругленные противолежащие углы 33">
              <a:extLst>
                <a:ext uri="{FF2B5EF4-FFF2-40B4-BE49-F238E27FC236}">
                  <a16:creationId xmlns:a16="http://schemas.microsoft.com/office/drawing/2014/main" id="{2E672A30-B803-45A4-A539-B0C1E8A775ED}"/>
                </a:ext>
              </a:extLst>
            </p:cNvPr>
            <p:cNvSpPr/>
            <p:nvPr userDrawn="1"/>
          </p:nvSpPr>
          <p:spPr>
            <a:xfrm>
              <a:off x="12321661" y="5708097"/>
              <a:ext cx="1103562" cy="422429"/>
            </a:xfrm>
            <a:prstGeom prst="round2Diag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37FE4C1-2499-4F6A-988D-6A54CC2FECE3}"/>
                </a:ext>
              </a:extLst>
            </p:cNvPr>
            <p:cNvSpPr txBox="1"/>
            <p:nvPr userDrawn="1"/>
          </p:nvSpPr>
          <p:spPr>
            <a:xfrm>
              <a:off x="12427169" y="5803669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solidFill>
                    <a:schemeClr val="bg1"/>
                  </a:solidFill>
                </a:rPr>
                <a:t>135 / 135 / 135</a:t>
              </a:r>
              <a:endParaRPr lang="ru-RU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Прямоугольник: скругленные противолежащие углы 18">
              <a:extLst>
                <a:ext uri="{FF2B5EF4-FFF2-40B4-BE49-F238E27FC236}">
                  <a16:creationId xmlns:a16="http://schemas.microsoft.com/office/drawing/2014/main" id="{4656BA54-6A42-4FD7-9C2A-BA5741741F56}"/>
                </a:ext>
              </a:extLst>
            </p:cNvPr>
            <p:cNvSpPr/>
            <p:nvPr userDrawn="1"/>
          </p:nvSpPr>
          <p:spPr>
            <a:xfrm>
              <a:off x="12321661" y="6228602"/>
              <a:ext cx="1103562" cy="422429"/>
            </a:xfrm>
            <a:prstGeom prst="round2Diag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24E7DDE-7655-4EF7-849B-9CD221CE5272}"/>
                </a:ext>
              </a:extLst>
            </p:cNvPr>
            <p:cNvSpPr txBox="1"/>
            <p:nvPr userDrawn="1"/>
          </p:nvSpPr>
          <p:spPr>
            <a:xfrm>
              <a:off x="12427169" y="6324174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solidFill>
                    <a:schemeClr val="bg1"/>
                  </a:solidFill>
                </a:rPr>
                <a:t>174 / 100 / 100</a:t>
              </a:r>
              <a:endParaRPr lang="ru-RU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724F7FC-3710-4F90-B6B2-D9951D913CC2}"/>
              </a:ext>
            </a:extLst>
          </p:cNvPr>
          <p:cNvSpPr txBox="1"/>
          <p:nvPr userDrawn="1"/>
        </p:nvSpPr>
        <p:spPr>
          <a:xfrm>
            <a:off x="12353840" y="3255375"/>
            <a:ext cx="16517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Пожалуйста, </a:t>
            </a:r>
            <a:b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используйте </a:t>
            </a:r>
            <a:b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цветовую гамму </a:t>
            </a:r>
            <a:b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«300 лет СПбГУ»</a:t>
            </a:r>
          </a:p>
        </p:txBody>
      </p:sp>
    </p:spTree>
    <p:extLst>
      <p:ext uri="{BB962C8B-B14F-4D97-AF65-F5344CB8AC3E}">
        <p14:creationId xmlns:p14="http://schemas.microsoft.com/office/powerpoint/2010/main" val="366778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1" r:id="rId3"/>
    <p:sldLayoutId id="2147483650" r:id="rId4"/>
    <p:sldLayoutId id="2147483653" r:id="rId5"/>
    <p:sldLayoutId id="2147483657" r:id="rId6"/>
    <p:sldLayoutId id="2147483662" r:id="rId7"/>
    <p:sldLayoutId id="2147483664" r:id="rId8"/>
    <p:sldLayoutId id="2147483659" r:id="rId9"/>
    <p:sldLayoutId id="2147483665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384" userDrawn="1">
          <p15:clr>
            <a:srgbClr val="F26B43"/>
          </p15:clr>
        </p15:guide>
        <p15:guide id="3" pos="3477" userDrawn="1">
          <p15:clr>
            <a:srgbClr val="F26B43"/>
          </p15:clr>
        </p15:guide>
        <p15:guide id="4" orient="horz" pos="799" userDrawn="1">
          <p15:clr>
            <a:srgbClr val="F26B43"/>
          </p15:clr>
        </p15:guide>
        <p15:guide id="5" orient="horz" pos="620" userDrawn="1">
          <p15:clr>
            <a:srgbClr val="F26B43"/>
          </p15:clr>
        </p15:guide>
        <p15:guide id="7" orient="horz" pos="4159" userDrawn="1">
          <p15:clr>
            <a:srgbClr val="F26B43"/>
          </p15:clr>
        </p15:guide>
        <p15:guide id="8" pos="7543" userDrawn="1">
          <p15:clr>
            <a:srgbClr val="F26B43"/>
          </p15:clr>
        </p15:guide>
        <p15:guide id="9" orient="horz" pos="3977" userDrawn="1">
          <p15:clr>
            <a:srgbClr val="F26B43"/>
          </p15:clr>
        </p15:guide>
        <p15:guide id="10" pos="1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D9001-FD5F-449C-9E24-645D50FA84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419" y="2602705"/>
            <a:ext cx="11335159" cy="1061461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Алгоритмы обучения без учителя для выявления психологических особенностей пользователей по текстовым данным социальных сетей</a:t>
            </a:r>
          </a:p>
          <a:p>
            <a:pPr algn="ctr"/>
            <a:endParaRPr lang="en-GB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0C672-1EBB-402D-83A4-D5E197727E72}"/>
              </a:ext>
            </a:extLst>
          </p:cNvPr>
          <p:cNvSpPr txBox="1"/>
          <p:nvPr/>
        </p:nvSpPr>
        <p:spPr>
          <a:xfrm>
            <a:off x="-1" y="59533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59D7A1-6C73-E845-1788-7C25D763FC83}"/>
              </a:ext>
            </a:extLst>
          </p:cNvPr>
          <p:cNvSpPr txBox="1"/>
          <p:nvPr/>
        </p:nvSpPr>
        <p:spPr>
          <a:xfrm>
            <a:off x="2937161" y="3428999"/>
            <a:ext cx="589280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ru-RU" sz="2400" dirty="0"/>
              <a:t>Выполнил: Салман Эль Фарисси Атмания</a:t>
            </a:r>
            <a:br>
              <a:rPr lang="ru-RU" sz="2400" dirty="0"/>
            </a:br>
            <a:r>
              <a:rPr lang="ru-RU" sz="2400" dirty="0"/>
              <a:t>Научный руководитель: О.Р. Гавриленко</a:t>
            </a:r>
          </a:p>
          <a:p>
            <a:pPr algn="ctr"/>
            <a:endParaRPr lang="ru-RU" sz="2400" dirty="0"/>
          </a:p>
          <a:p>
            <a:pPr algn="ctr"/>
            <a:endParaRPr lang="en-US" sz="2400" dirty="0"/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63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9B7C39-7AE3-4FE2-A662-D24B9DD4C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0AF3A-F28C-044B-3D63-83134F9FB40F}"/>
              </a:ext>
            </a:extLst>
          </p:cNvPr>
          <p:cNvSpPr txBox="1"/>
          <p:nvPr/>
        </p:nvSpPr>
        <p:spPr>
          <a:xfrm>
            <a:off x="580248" y="350980"/>
            <a:ext cx="39624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Актуальность и проблема</a:t>
            </a:r>
            <a:endParaRPr lang="en-US" sz="2000" b="1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CCAB7-D1DE-479F-C328-EB31F48DED10}"/>
              </a:ext>
            </a:extLst>
          </p:cNvPr>
          <p:cNvSpPr txBox="1"/>
          <p:nvPr/>
        </p:nvSpPr>
        <p:spPr>
          <a:xfrm>
            <a:off x="580248" y="1194552"/>
            <a:ext cx="1103150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Актуальность</a:t>
            </a:r>
            <a:endParaRPr lang="ru-RU" sz="2000" dirty="0"/>
          </a:p>
          <a:p>
            <a:r>
              <a:rPr lang="ru-RU" sz="2000" dirty="0"/>
              <a:t>Число пользователей социальных сетей выросло с </a:t>
            </a:r>
            <a:r>
              <a:rPr lang="ru-RU" sz="2000" b="1" dirty="0"/>
              <a:t>≈3.8 млрд (2020)</a:t>
            </a:r>
            <a:r>
              <a:rPr lang="ru-RU" sz="2000" dirty="0"/>
              <a:t> до </a:t>
            </a:r>
            <a:r>
              <a:rPr lang="ru-RU" sz="2000" b="1" dirty="0"/>
              <a:t>≈5.2 млрд (2025)</a:t>
            </a:r>
            <a:endParaRPr lang="ru-RU" sz="2000" dirty="0"/>
          </a:p>
          <a:p>
            <a:r>
              <a:rPr lang="ru-RU" sz="2000" dirty="0"/>
              <a:t>Объём публикуемого текстового контента ежегодно увеличивается</a:t>
            </a:r>
          </a:p>
          <a:p>
            <a:r>
              <a:rPr lang="ru-RU" sz="2000" dirty="0"/>
              <a:t>Тексты отражают стиль коммуникации и психологические особенности пользователей</a:t>
            </a:r>
          </a:p>
          <a:p>
            <a:endParaRPr lang="ru-RU" sz="2000" dirty="0"/>
          </a:p>
          <a:p>
            <a:r>
              <a:rPr lang="ru-RU" sz="2000" b="1" dirty="0"/>
              <a:t>Проблема</a:t>
            </a:r>
            <a:endParaRPr lang="ru-RU" sz="2000" dirty="0"/>
          </a:p>
          <a:p>
            <a:r>
              <a:rPr lang="ru-RU" sz="2000" dirty="0"/>
              <a:t>Методы обучения с учителем требуют большого количества размеченных данных</a:t>
            </a:r>
          </a:p>
          <a:p>
            <a:r>
              <a:rPr lang="ru-RU" sz="2000" dirty="0"/>
              <a:t>Разметка по Big Five требует прохождения психологических тестов и плохо масштабируется</a:t>
            </a:r>
          </a:p>
          <a:p>
            <a:endParaRPr lang="ru-RU" sz="2000" dirty="0"/>
          </a:p>
          <a:p>
            <a:r>
              <a:rPr lang="ru-RU" sz="2000" b="1" dirty="0"/>
              <a:t>Решение</a:t>
            </a:r>
            <a:endParaRPr lang="ru-RU" sz="2000" dirty="0"/>
          </a:p>
          <a:p>
            <a:r>
              <a:rPr lang="ru-RU" sz="2000" dirty="0"/>
              <a:t>Использование методов обучения без учителя для поиска латентных стилей текстового контента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796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E44D9D-F125-4467-9E63-B7CBC443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880806-0978-BAAB-0989-838533E7D6C8}"/>
              </a:ext>
            </a:extLst>
          </p:cNvPr>
          <p:cNvSpPr txBox="1"/>
          <p:nvPr/>
        </p:nvSpPr>
        <p:spPr>
          <a:xfrm>
            <a:off x="618835" y="387927"/>
            <a:ext cx="5615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Цель, объект и предмет</a:t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5E6F7-167D-DC00-A542-57AA6C211C25}"/>
              </a:ext>
            </a:extLst>
          </p:cNvPr>
          <p:cNvSpPr txBox="1"/>
          <p:nvPr/>
        </p:nvSpPr>
        <p:spPr>
          <a:xfrm>
            <a:off x="618835" y="1505525"/>
            <a:ext cx="935643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Цель</a:t>
            </a:r>
            <a:br>
              <a:rPr lang="ru-RU" sz="2000" dirty="0"/>
            </a:br>
            <a:r>
              <a:rPr lang="ru-RU" sz="2000" dirty="0"/>
              <a:t>Применить методы обучения без учителя для обнаружения латентных стилей текстового контента пользователей и изучить их связь с чертами личности Big Five для предсказания оценки выраженности психологических особенностей</a:t>
            </a:r>
          </a:p>
          <a:p>
            <a:endParaRPr lang="ru-RU" sz="2000" dirty="0"/>
          </a:p>
          <a:p>
            <a:r>
              <a:rPr lang="ru-RU" sz="2000" b="1" dirty="0"/>
              <a:t>Объект</a:t>
            </a:r>
            <a:br>
              <a:rPr lang="ru-RU" sz="2000" dirty="0"/>
            </a:br>
            <a:r>
              <a:rPr lang="ru-RU" sz="2000" dirty="0"/>
              <a:t>Пользователи социальной сети Вконтакте</a:t>
            </a:r>
          </a:p>
          <a:p>
            <a:endParaRPr lang="ru-RU" sz="2000" dirty="0"/>
          </a:p>
          <a:p>
            <a:r>
              <a:rPr lang="ru-RU" sz="2000" b="1" dirty="0"/>
              <a:t>Предмет</a:t>
            </a:r>
            <a:br>
              <a:rPr lang="ru-RU" sz="2000" dirty="0"/>
            </a:br>
            <a:r>
              <a:rPr lang="ru-RU" sz="2000" dirty="0"/>
              <a:t>Методы представления текста, кластеризации и машинного обучения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834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229C20-83A3-413A-8796-6721240E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8BD60B-074C-43EF-B68F-CDC5D27B874C}"/>
              </a:ext>
            </a:extLst>
          </p:cNvPr>
          <p:cNvSpPr/>
          <p:nvPr/>
        </p:nvSpPr>
        <p:spPr>
          <a:xfrm>
            <a:off x="0" y="-112295"/>
            <a:ext cx="5061284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03E2B-C274-ADF7-68A9-97C01721B9B0}"/>
              </a:ext>
            </a:extLst>
          </p:cNvPr>
          <p:cNvSpPr txBox="1"/>
          <p:nvPr/>
        </p:nvSpPr>
        <p:spPr>
          <a:xfrm>
            <a:off x="609600" y="422608"/>
            <a:ext cx="3288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Задачи исследования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37356-A222-E217-1973-F92EF44B1D1B}"/>
              </a:ext>
            </a:extLst>
          </p:cNvPr>
          <p:cNvSpPr txBox="1"/>
          <p:nvPr/>
        </p:nvSpPr>
        <p:spPr>
          <a:xfrm>
            <a:off x="609600" y="1208167"/>
            <a:ext cx="104370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Собрать и предобработать текстовый контент пользователей</a:t>
            </a:r>
          </a:p>
          <a:p>
            <a:r>
              <a:rPr lang="ru-RU" dirty="0"/>
              <a:t>Построить эмбеддинги текстов пользователей</a:t>
            </a:r>
          </a:p>
          <a:p>
            <a:endParaRPr lang="ru-RU" dirty="0"/>
          </a:p>
          <a:p>
            <a:r>
              <a:rPr lang="ru-RU" dirty="0"/>
              <a:t>Выделить латентные стили текстового контента</a:t>
            </a:r>
          </a:p>
          <a:p>
            <a:endParaRPr lang="ru-RU" dirty="0"/>
          </a:p>
          <a:p>
            <a:r>
              <a:rPr lang="ru-RU" dirty="0"/>
              <a:t>Сформировать новые признаки пользователей</a:t>
            </a:r>
          </a:p>
          <a:p>
            <a:endParaRPr lang="ru-RU" dirty="0"/>
          </a:p>
          <a:p>
            <a:r>
              <a:rPr lang="ru-RU" dirty="0"/>
              <a:t>Построить модели предсказания оценок Big Five</a:t>
            </a:r>
          </a:p>
          <a:p>
            <a:endParaRPr lang="ru-RU" dirty="0"/>
          </a:p>
          <a:p>
            <a:r>
              <a:rPr lang="ru-RU" dirty="0"/>
              <a:t>Сравнить baseline-модель и модель с новыми признаками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59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D95E45-6093-40BC-B304-3E2A514D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83D82-0768-854B-8C1C-09D9293BBC0C}"/>
              </a:ext>
            </a:extLst>
          </p:cNvPr>
          <p:cNvSpPr txBox="1"/>
          <p:nvPr/>
        </p:nvSpPr>
        <p:spPr>
          <a:xfrm>
            <a:off x="443345" y="424872"/>
            <a:ext cx="572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Обзор литературы: личность и цифровые следы</a:t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8233A-7C11-1770-4A39-D548BAE420C1}"/>
              </a:ext>
            </a:extLst>
          </p:cNvPr>
          <p:cNvSpPr txBox="1"/>
          <p:nvPr/>
        </p:nvSpPr>
        <p:spPr>
          <a:xfrm>
            <a:off x="443345" y="1342348"/>
            <a:ext cx="877454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Анализ цифровых следов пользователей позволяет алгоритмам</a:t>
            </a:r>
            <a:br>
              <a:rPr lang="ru-RU" sz="2000" dirty="0"/>
            </a:br>
            <a:r>
              <a:rPr lang="ru-RU" sz="2000" dirty="0"/>
              <a:t>превосходить человеческие оценки личности при достаточном объёме данных </a:t>
            </a:r>
            <a:r>
              <a:rPr lang="ru-RU" sz="2000" b="1" dirty="0"/>
              <a:t>[1]</a:t>
            </a:r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Предсказание черт личности Big Five по текстовому контенту социальных сетей</a:t>
            </a:r>
            <a:br>
              <a:rPr lang="ru-RU" sz="2000" dirty="0"/>
            </a:br>
            <a:r>
              <a:rPr lang="ru-RU" sz="2000" dirty="0"/>
              <a:t>достигает корреляций </a:t>
            </a:r>
            <a:r>
              <a:rPr lang="ru-RU" sz="2000" b="1" dirty="0"/>
              <a:t>r ≈ 0.31–0.41</a:t>
            </a:r>
            <a:r>
              <a:rPr lang="ru-RU" sz="2000" dirty="0"/>
              <a:t> с результатами психологических тестов </a:t>
            </a:r>
            <a:r>
              <a:rPr lang="ru-RU" sz="2000" b="1" dirty="0"/>
              <a:t>[2,4]</a:t>
            </a:r>
          </a:p>
          <a:p>
            <a:endParaRPr lang="ru-RU" sz="2000" dirty="0"/>
          </a:p>
          <a:p>
            <a:r>
              <a:rPr lang="ru-RU" sz="2000" dirty="0"/>
              <a:t>Метанализ работ по цифровым следам показывает устойчивую связь</a:t>
            </a:r>
            <a:br>
              <a:rPr lang="ru-RU" sz="2000" dirty="0"/>
            </a:br>
            <a:r>
              <a:rPr lang="ru-RU" sz="2000" dirty="0"/>
              <a:t>текстового контента и черт личности Big Five (</a:t>
            </a:r>
            <a:r>
              <a:rPr lang="ru-RU" sz="2000" b="1" dirty="0"/>
              <a:t>r ≈ 0.29–0.40</a:t>
            </a:r>
            <a:r>
              <a:rPr lang="ru-RU" sz="2000" dirty="0"/>
              <a:t>) </a:t>
            </a:r>
            <a:r>
              <a:rPr lang="ru-RU" sz="2000" b="1" dirty="0"/>
              <a:t>[3]</a:t>
            </a:r>
            <a:endParaRPr lang="ru-RU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92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1C200D-987F-46A9-BB23-F89AA1089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37F0A-A6E9-7A8A-93BE-B7DCA88BE9D2}"/>
              </a:ext>
            </a:extLst>
          </p:cNvPr>
          <p:cNvSpPr txBox="1"/>
          <p:nvPr/>
        </p:nvSpPr>
        <p:spPr>
          <a:xfrm>
            <a:off x="434109" y="443345"/>
            <a:ext cx="6003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Обзор литературы: эмбеддинги и трансформеры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2EA72-82F8-13FE-D0ED-89654E62DF9E}"/>
              </a:ext>
            </a:extLst>
          </p:cNvPr>
          <p:cNvSpPr txBox="1"/>
          <p:nvPr/>
        </p:nvSpPr>
        <p:spPr>
          <a:xfrm>
            <a:off x="434109" y="1348508"/>
            <a:ext cx="894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Методы анализа текстового контента</a:t>
            </a:r>
            <a:endParaRPr lang="ru-RU" sz="2000" dirty="0"/>
          </a:p>
          <a:p>
            <a:r>
              <a:rPr lang="ru-RU" sz="2000" dirty="0"/>
              <a:t>Трансформерные модели обеспечивают контекстные представления текста</a:t>
            </a:r>
            <a:br>
              <a:rPr lang="ru-RU" sz="2000" dirty="0"/>
            </a:br>
            <a:r>
              <a:rPr lang="ru-RU" sz="2000" dirty="0"/>
              <a:t>и повышают качество NLP-задач по сравнению с классическими подходами </a:t>
            </a:r>
            <a:r>
              <a:rPr lang="ru-RU" sz="2000" b="1" dirty="0"/>
              <a:t>[6]</a:t>
            </a:r>
          </a:p>
          <a:p>
            <a:endParaRPr lang="ru-RU" sz="2000" dirty="0"/>
          </a:p>
          <a:p>
            <a:r>
              <a:rPr lang="ru-RU" sz="2000" dirty="0"/>
              <a:t>Sentence-BERT позволяет получать компактные эмбеддинги предложений</a:t>
            </a:r>
            <a:br>
              <a:rPr lang="ru-RU" sz="2000" dirty="0"/>
            </a:br>
            <a:r>
              <a:rPr lang="ru-RU" sz="2000" dirty="0"/>
              <a:t>и текстов, пригодные для оценки семантического сходства </a:t>
            </a:r>
            <a:r>
              <a:rPr lang="ru-RU" sz="2000" b="1" dirty="0"/>
              <a:t>[5]</a:t>
            </a:r>
          </a:p>
          <a:p>
            <a:endParaRPr lang="ru-RU" sz="2000" dirty="0"/>
          </a:p>
          <a:p>
            <a:r>
              <a:rPr lang="ru-RU" sz="2000" dirty="0"/>
              <a:t>Метод UMAP эффективно снижает размерность данных</a:t>
            </a:r>
            <a:br>
              <a:rPr lang="ru-RU" sz="2000" dirty="0"/>
            </a:br>
            <a:r>
              <a:rPr lang="ru-RU" sz="2000" dirty="0"/>
              <a:t>и сохраняет кластерную структуру при визуализации и анализе </a:t>
            </a:r>
            <a:r>
              <a:rPr lang="ru-RU" sz="2000" b="1" dirty="0"/>
              <a:t>[7]</a:t>
            </a:r>
            <a:endParaRPr lang="ru-RU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7D56D0-2D48-8614-1CEE-8A6F8A2C8965}"/>
              </a:ext>
            </a:extLst>
          </p:cNvPr>
          <p:cNvSpPr txBox="1"/>
          <p:nvPr/>
        </p:nvSpPr>
        <p:spPr>
          <a:xfrm>
            <a:off x="434109" y="5634180"/>
            <a:ext cx="46458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90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00746E-DC1D-4CE7-B1BA-FF31AEC2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FEB97-9B88-0258-87C9-BF24A71F83E1}"/>
              </a:ext>
            </a:extLst>
          </p:cNvPr>
          <p:cNvSpPr txBox="1"/>
          <p:nvPr/>
        </p:nvSpPr>
        <p:spPr>
          <a:xfrm>
            <a:off x="665018" y="480291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Данные и предобработка</a:t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E0730-AE46-726A-2041-DD57432BC471}"/>
              </a:ext>
            </a:extLst>
          </p:cNvPr>
          <p:cNvSpPr txBox="1"/>
          <p:nvPr/>
        </p:nvSpPr>
        <p:spPr>
          <a:xfrm>
            <a:off x="665018" y="1080654"/>
            <a:ext cx="10097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Исходный датасет: </a:t>
            </a:r>
            <a:r>
              <a:rPr lang="ru-RU" b="1" dirty="0"/>
              <a:t>500 пользователей</a:t>
            </a:r>
            <a:r>
              <a:rPr lang="ru-RU" dirty="0"/>
              <a:t> ВКонтакте с результатами теста Big Five</a:t>
            </a:r>
          </a:p>
          <a:p>
            <a:r>
              <a:rPr lang="ru-RU" dirty="0"/>
              <a:t>После очистки и фильтрации: </a:t>
            </a:r>
            <a:r>
              <a:rPr lang="ru-RU" b="1" dirty="0"/>
              <a:t>312 пользователей</a:t>
            </a:r>
            <a:endParaRPr lang="ru-RU" dirty="0"/>
          </a:p>
          <a:p>
            <a:r>
              <a:rPr lang="ru-RU" dirty="0"/>
              <a:t>До </a:t>
            </a:r>
            <a:r>
              <a:rPr lang="ru-RU" b="1" dirty="0"/>
              <a:t>300 постов</a:t>
            </a:r>
            <a:r>
              <a:rPr lang="ru-RU" dirty="0"/>
              <a:t> на одного пользователя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57B2F9-372C-52C4-AE2A-33AB2D421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71" y="2481236"/>
            <a:ext cx="10229257" cy="22434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F31172-FEAD-AD84-FAEB-FBC617CB4845}"/>
              </a:ext>
            </a:extLst>
          </p:cNvPr>
          <p:cNvSpPr txBox="1"/>
          <p:nvPr/>
        </p:nvSpPr>
        <p:spPr>
          <a:xfrm>
            <a:off x="2947886" y="4924928"/>
            <a:ext cx="7115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Таблица 1: Этапы обработки данных и количество оставшихся записей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19370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D7AB8-2A07-7A1D-2749-2724DC90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E86AF-A82D-6C10-BA14-120FEF99CEB3}"/>
              </a:ext>
            </a:extLst>
          </p:cNvPr>
          <p:cNvSpPr txBox="1"/>
          <p:nvPr/>
        </p:nvSpPr>
        <p:spPr>
          <a:xfrm>
            <a:off x="609600" y="452581"/>
            <a:ext cx="34451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Предобработка текстов</a:t>
            </a:r>
            <a:endParaRPr lang="ru-RU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33616-355E-3AC1-960B-F396D0FE14F5}"/>
              </a:ext>
            </a:extLst>
          </p:cNvPr>
          <p:cNvSpPr txBox="1"/>
          <p:nvPr/>
        </p:nvSpPr>
        <p:spPr>
          <a:xfrm>
            <a:off x="609599" y="1690948"/>
            <a:ext cx="5246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Очистка текста: ссылки, хэштеги, спецсимволы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Токенизация и удаление стоп-слов</a:t>
            </a:r>
            <a:endParaRPr lang="en-US" dirty="0"/>
          </a:p>
          <a:p>
            <a:endParaRPr lang="ru-RU" dirty="0"/>
          </a:p>
          <a:p>
            <a:r>
              <a:rPr lang="ru-RU" dirty="0"/>
              <a:t>Лемматизация и объединение постов пользователя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4C93F-EEBB-652E-5FE9-CEB9BD85CACD}"/>
              </a:ext>
            </a:extLst>
          </p:cNvPr>
          <p:cNvSpPr txBox="1"/>
          <p:nvPr/>
        </p:nvSpPr>
        <p:spPr>
          <a:xfrm>
            <a:off x="5658248" y="1383171"/>
            <a:ext cx="283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Фрагмент кода (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Colab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)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8FB63EA5-49AA-636D-76C1-35D9D03D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248" y="1690948"/>
            <a:ext cx="5925128" cy="45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07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A2ADCB-2C11-4B12-8A09-8CAE91A5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C29B-5A2E-7ADB-2ADF-A38082E46485}"/>
              </a:ext>
            </a:extLst>
          </p:cNvPr>
          <p:cNvSpPr txBox="1"/>
          <p:nvPr/>
        </p:nvSpPr>
        <p:spPr>
          <a:xfrm>
            <a:off x="517236" y="415636"/>
            <a:ext cx="5865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Архитектура решения и формирование признаков</a:t>
            </a:r>
            <a:endParaRPr 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5F10B9-4049-265B-2DE6-49D8B7451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77" y="1551563"/>
            <a:ext cx="10944645" cy="35409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350B28-131C-BAA5-5C06-7B8126DF2CE4}"/>
              </a:ext>
            </a:extLst>
          </p:cNvPr>
          <p:cNvSpPr txBox="1"/>
          <p:nvPr/>
        </p:nvSpPr>
        <p:spPr>
          <a:xfrm>
            <a:off x="995216" y="5489739"/>
            <a:ext cx="10201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Рис. 1: Архитектура решения: от текстов постов пользователей к латентным стилям и предсказанию оценок Big Five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4621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974397-CAD6-43A1-BEBF-B9CAC27B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CC287-A14C-F8AE-B8AA-93BD52DBF175}"/>
              </a:ext>
            </a:extLst>
          </p:cNvPr>
          <p:cNvSpPr txBox="1"/>
          <p:nvPr/>
        </p:nvSpPr>
        <p:spPr>
          <a:xfrm>
            <a:off x="489526" y="387927"/>
            <a:ext cx="4174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Результаты: качество эмбеддингов</a:t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4A18E-7BE3-948F-1F99-935A3B610FD7}"/>
              </a:ext>
            </a:extLst>
          </p:cNvPr>
          <p:cNvSpPr txBox="1"/>
          <p:nvPr/>
        </p:nvSpPr>
        <p:spPr>
          <a:xfrm>
            <a:off x="332508" y="1479392"/>
            <a:ext cx="7389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Рис 1:</a:t>
            </a:r>
            <a:r>
              <a:rPr lang="en-US" sz="1600" b="1" dirty="0"/>
              <a:t> </a:t>
            </a:r>
            <a:r>
              <a:rPr lang="ru-RU" sz="1600" dirty="0"/>
              <a:t>график распределений косинусного сходства «посты одного пользователя» vs «посты разных пользователей»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49B44D-FC64-BD08-63F4-2CFBD7CCF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9" y="2064167"/>
            <a:ext cx="6456218" cy="3204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837094-BDC6-9582-377D-9E7E5E9B9986}"/>
              </a:ext>
            </a:extLst>
          </p:cNvPr>
          <p:cNvSpPr txBox="1"/>
          <p:nvPr/>
        </p:nvSpPr>
        <p:spPr>
          <a:xfrm>
            <a:off x="734290" y="5546743"/>
            <a:ext cx="10723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Посты одного пользователя более похожи между собой</a:t>
            </a:r>
          </a:p>
          <a:p>
            <a:r>
              <a:rPr lang="ru-RU" dirty="0"/>
              <a:t>Эмбеддинги отражают индивидуальный стиль текста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F33EA8-EA29-F502-6C51-2C75449C0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1" y="3598383"/>
            <a:ext cx="4941454" cy="12186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91400F-38E2-5AA7-55BA-4DA719AC4185}"/>
              </a:ext>
            </a:extLst>
          </p:cNvPr>
          <p:cNvSpPr txBox="1"/>
          <p:nvPr/>
        </p:nvSpPr>
        <p:spPr>
          <a:xfrm>
            <a:off x="6788727" y="3064661"/>
            <a:ext cx="50707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Таблица 2: </a:t>
            </a:r>
            <a:r>
              <a:rPr lang="ru-RU" sz="1600" dirty="0"/>
              <a:t>Статистики семантического сходства постов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88171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68406C-DB6F-4993-89E5-5138E03E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471050-C8FE-48E1-9226-404424D4AB69}"/>
              </a:ext>
            </a:extLst>
          </p:cNvPr>
          <p:cNvSpPr/>
          <p:nvPr/>
        </p:nvSpPr>
        <p:spPr>
          <a:xfrm>
            <a:off x="0" y="0"/>
            <a:ext cx="2919663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A5852-09FD-FCA7-B77E-CD1B8892C06E}"/>
              </a:ext>
            </a:extLst>
          </p:cNvPr>
          <p:cNvSpPr txBox="1"/>
          <p:nvPr/>
        </p:nvSpPr>
        <p:spPr>
          <a:xfrm>
            <a:off x="628073" y="401406"/>
            <a:ext cx="584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Результаты: пространственная структура эмбеддингов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3BC3CA-6E4F-BE1B-F00F-6DE742088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845" y="1628228"/>
            <a:ext cx="4075444" cy="3398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34B3AA-9F8A-D8CB-E970-7749BDE8E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035" y="1585586"/>
            <a:ext cx="4075444" cy="3483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7453D9-246F-C715-2260-79BE22F3968B}"/>
              </a:ext>
            </a:extLst>
          </p:cNvPr>
          <p:cNvSpPr txBox="1"/>
          <p:nvPr/>
        </p:nvSpPr>
        <p:spPr>
          <a:xfrm>
            <a:off x="628072" y="1014817"/>
            <a:ext cx="1054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Рис:</a:t>
            </a:r>
            <a:r>
              <a:rPr lang="en-US" b="1" dirty="0"/>
              <a:t> </a:t>
            </a:r>
            <a:r>
              <a:rPr lang="ru-RU" dirty="0"/>
              <a:t>UMAP-проекция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t-SNE-</a:t>
            </a:r>
            <a:r>
              <a:rPr lang="ru-RU" dirty="0"/>
              <a:t>проекция пользовательских эмбеддингов с окраской по кластерам.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448F95-E3F2-28CF-90FB-C5A2251EFB3A}"/>
              </a:ext>
            </a:extLst>
          </p:cNvPr>
          <p:cNvSpPr txBox="1"/>
          <p:nvPr/>
        </p:nvSpPr>
        <p:spPr>
          <a:xfrm>
            <a:off x="628072" y="5533264"/>
            <a:ext cx="100624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Лучший результат: KMeans, k = 3</a:t>
            </a:r>
          </a:p>
          <a:p>
            <a:r>
              <a:rPr lang="ru-RU" dirty="0"/>
              <a:t>Максимальный silhouette, минимальный DB-index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866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C266C3-B039-4CA9-963C-62EB2AB66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94B9C0-E2C0-4869-A92B-E68A0BAD4918}"/>
              </a:ext>
            </a:extLst>
          </p:cNvPr>
          <p:cNvSpPr/>
          <p:nvPr/>
        </p:nvSpPr>
        <p:spPr>
          <a:xfrm>
            <a:off x="0" y="0"/>
            <a:ext cx="2919663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AFCC0-2FF4-89DA-0AC3-3948813E2178}"/>
              </a:ext>
            </a:extLst>
          </p:cNvPr>
          <p:cNvSpPr txBox="1"/>
          <p:nvPr/>
        </p:nvSpPr>
        <p:spPr>
          <a:xfrm>
            <a:off x="572653" y="461818"/>
            <a:ext cx="434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Результаты: сравнение KMeans и GMM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EAD94C-89F5-632D-236F-6CED8261C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60" y="1841291"/>
            <a:ext cx="5500240" cy="42118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685873-F1ED-73F6-6FC4-CFFC543EF345}"/>
              </a:ext>
            </a:extLst>
          </p:cNvPr>
          <p:cNvSpPr txBox="1"/>
          <p:nvPr/>
        </p:nvSpPr>
        <p:spPr>
          <a:xfrm>
            <a:off x="886691" y="1256516"/>
            <a:ext cx="5209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Таблица 3: Качество кластеризации при различных методах и числе кластеров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1B766-0B02-67EB-01FD-91B8B93B608A}"/>
              </a:ext>
            </a:extLst>
          </p:cNvPr>
          <p:cNvSpPr txBox="1"/>
          <p:nvPr/>
        </p:nvSpPr>
        <p:spPr>
          <a:xfrm>
            <a:off x="6072893" y="3100127"/>
            <a:ext cx="5523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Видны устойчивые группы пользователей</a:t>
            </a:r>
          </a:p>
          <a:p>
            <a:r>
              <a:rPr lang="ru-RU" dirty="0"/>
              <a:t>Структура сохраняется при разных проекциях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BB5690-F846-135A-12C0-582D9C2A38A5}"/>
              </a:ext>
            </a:extLst>
          </p:cNvPr>
          <p:cNvSpPr txBox="1"/>
          <p:nvPr/>
        </p:nvSpPr>
        <p:spPr>
          <a:xfrm>
            <a:off x="6072893" y="4318699"/>
            <a:ext cx="5093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Итоговое решение — три кластера пользователей со схожими стилями текстового контента.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821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EC6D91-0E60-AB42-B5D0-FF828906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3B220-7B76-C738-56BB-0A683AAADCD4}"/>
              </a:ext>
            </a:extLst>
          </p:cNvPr>
          <p:cNvSpPr txBox="1"/>
          <p:nvPr/>
        </p:nvSpPr>
        <p:spPr>
          <a:xfrm>
            <a:off x="738909" y="452581"/>
            <a:ext cx="6373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Результаты: baseline vs модель с латентными признаками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A91385-E4FE-B2D4-D8ED-36A6248FB58D}"/>
              </a:ext>
            </a:extLst>
          </p:cNvPr>
          <p:cNvSpPr txBox="1"/>
          <p:nvPr/>
        </p:nvSpPr>
        <p:spPr>
          <a:xfrm>
            <a:off x="738909" y="3953162"/>
            <a:ext cx="108342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Baseline-модель использует только исходные табличные и простые текстовые признаки.</a:t>
            </a:r>
          </a:p>
          <a:p>
            <a:r>
              <a:rPr lang="ru-RU" dirty="0"/>
              <a:t>Enhanced-модель использует дополнительные латентные признаки: PCA-компоненты эмбеддингов, принадлежность к кластерам и стилистические характеристики текстов.</a:t>
            </a:r>
          </a:p>
          <a:p>
            <a:r>
              <a:rPr lang="ru-RU" dirty="0"/>
              <a:t>Ошибка MAE снижается примерно на 25–45% по всем шкалам, RMSE уменьшается на 4–5 баллов.</a:t>
            </a:r>
          </a:p>
          <a:p>
            <a:r>
              <a:rPr lang="ru-RU" dirty="0"/>
              <a:t>Это показывает, что поиск латентных стилей текстового контента, формирование новых признаков и их добавление к датасету заметно повышают качество предсказаний по сравнению с baseline-моделью.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9FE0A-CDAC-8C41-3C7D-0711A282F161}"/>
              </a:ext>
            </a:extLst>
          </p:cNvPr>
          <p:cNvSpPr txBox="1"/>
          <p:nvPr/>
        </p:nvSpPr>
        <p:spPr>
          <a:xfrm>
            <a:off x="2395258" y="1163656"/>
            <a:ext cx="10711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Таблица 4: Сравнение MAE и RMSE baseline и расширенной модели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F263A9-A0A0-5662-E7B1-FE2F1F331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041" y="1659063"/>
            <a:ext cx="9606624" cy="195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55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2A36FC-80D1-4215-D35A-B9082DCD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6376" y="6460602"/>
            <a:ext cx="663632" cy="239136"/>
          </a:xfrm>
        </p:spPr>
        <p:txBody>
          <a:bodyPr/>
          <a:lstStyle/>
          <a:p>
            <a:fld id="{1FD38E61-9C24-476F-BFBC-20F0EEEA3A3D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58D84-5D5D-DC22-9175-EE62D374B4F6}"/>
              </a:ext>
            </a:extLst>
          </p:cNvPr>
          <p:cNvSpPr txBox="1"/>
          <p:nvPr/>
        </p:nvSpPr>
        <p:spPr>
          <a:xfrm>
            <a:off x="674254" y="480290"/>
            <a:ext cx="472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Выводы и дальнейшая работа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6B717-45E4-0EFB-AE40-680923508A34}"/>
              </a:ext>
            </a:extLst>
          </p:cNvPr>
          <p:cNvSpPr txBox="1"/>
          <p:nvPr/>
        </p:nvSpPr>
        <p:spPr>
          <a:xfrm>
            <a:off x="674254" y="1200728"/>
            <a:ext cx="95226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 текстового контента пользователей ВКонтакте удалось выделить устойчивые стили письменной коммуникации с помощью Sentence-BERT, PCA и кластеризации. </a:t>
            </a:r>
          </a:p>
          <a:p>
            <a:r>
              <a:rPr lang="ru-RU" dirty="0"/>
              <a:t>Эти стили связаны с оценками по шкалам Big Five и дают информативные латентные признаки для моделей.</a:t>
            </a:r>
          </a:p>
          <a:p>
            <a:r>
              <a:rPr lang="ru-RU" dirty="0"/>
              <a:t>Добавление новых текстовых признаков к исходному датасету существенно улучшает качество предсказания по сравнению с baseline-моделями.</a:t>
            </a:r>
          </a:p>
          <a:p>
            <a:endParaRPr lang="ru-RU" dirty="0"/>
          </a:p>
          <a:p>
            <a:r>
              <a:rPr lang="ru-RU" dirty="0"/>
              <a:t>В дальнейшем можно расширить выборку, добавить более богатые текстовые признаки (эмодзи, динамика во времени, сетевые характеристики) и использовать более сложные модели.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523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DC0DAB-F62C-A893-23C4-09FF5704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A3B4B8-31BB-5D5A-F5E2-3A616D33A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27" y="-92363"/>
            <a:ext cx="12339782" cy="702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47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F379DD-83F3-27B4-51E0-92EF2ED3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38E61-9C24-476F-BFBC-20F0EEEA3A3D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94B3F-7AE0-67BA-9C18-4DAF22326021}"/>
              </a:ext>
            </a:extLst>
          </p:cNvPr>
          <p:cNvSpPr txBox="1"/>
          <p:nvPr/>
        </p:nvSpPr>
        <p:spPr>
          <a:xfrm>
            <a:off x="563418" y="286326"/>
            <a:ext cx="4156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Список литературы</a:t>
            </a:r>
            <a:endParaRPr 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C0AAA-4016-0B36-C0D3-6FDFFC51A663}"/>
              </a:ext>
            </a:extLst>
          </p:cNvPr>
          <p:cNvSpPr txBox="1"/>
          <p:nvPr/>
        </p:nvSpPr>
        <p:spPr>
          <a:xfrm>
            <a:off x="563418" y="764554"/>
            <a:ext cx="964276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[1] Youyou W., Kosinski M., Stillwell D.</a:t>
            </a:r>
          </a:p>
          <a:p>
            <a:pPr>
              <a:buNone/>
            </a:pPr>
            <a:r>
              <a:rPr lang="en-US" sz="1400" b="1" dirty="0"/>
              <a:t>    Computer-based personality judgments are more accurate than those made by humans.</a:t>
            </a:r>
          </a:p>
          <a:p>
            <a:pPr>
              <a:buNone/>
            </a:pPr>
            <a:r>
              <a:rPr lang="en-US" sz="1400" b="1" dirty="0"/>
              <a:t>    Proceedings of the National Academy of Sciences, 2015.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[2] Park G., Schwartz H. A., Eichstaedt J. C. et al.</a:t>
            </a:r>
          </a:p>
          <a:p>
            <a:pPr>
              <a:buNone/>
            </a:pPr>
            <a:r>
              <a:rPr lang="en-US" sz="1400" b="1" dirty="0"/>
              <a:t>    Automatic personality assessment through social media language.</a:t>
            </a:r>
          </a:p>
          <a:p>
            <a:pPr>
              <a:buNone/>
            </a:pPr>
            <a:r>
              <a:rPr lang="en-US" sz="1400" b="1" dirty="0"/>
              <a:t>    Journal of Personality and Social Psychology, 2015.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[3] Azucar D., Marengo D., Settanni M.</a:t>
            </a:r>
          </a:p>
          <a:p>
            <a:pPr>
              <a:buNone/>
            </a:pPr>
            <a:r>
              <a:rPr lang="en-US" sz="1400" b="1" dirty="0"/>
              <a:t>    Predicting the Big Five personality traits from digital footprints.</a:t>
            </a:r>
          </a:p>
          <a:p>
            <a:pPr>
              <a:buNone/>
            </a:pPr>
            <a:r>
              <a:rPr lang="en-US" sz="1400" b="1" dirty="0"/>
              <a:t>    Psychological Assessment, 2018.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[4] Schwartz H. A., Eichstaedt J. C., Kern M. L. et al.</a:t>
            </a:r>
          </a:p>
          <a:p>
            <a:pPr>
              <a:buNone/>
            </a:pPr>
            <a:r>
              <a:rPr lang="en-US" sz="1400" b="1" dirty="0"/>
              <a:t>    Personality, gender, and age in the language of social media.</a:t>
            </a:r>
          </a:p>
          <a:p>
            <a:pPr>
              <a:buNone/>
            </a:pPr>
            <a:r>
              <a:rPr lang="en-US" sz="1400" b="1" dirty="0"/>
              <a:t>    PLOS ONE, 2013.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[5] Reimers N., </a:t>
            </a:r>
            <a:r>
              <a:rPr lang="en-US" sz="1400" b="1" dirty="0" err="1"/>
              <a:t>Gurevych</a:t>
            </a:r>
            <a:r>
              <a:rPr lang="en-US" sz="1400" b="1" dirty="0"/>
              <a:t> I.</a:t>
            </a:r>
          </a:p>
          <a:p>
            <a:pPr>
              <a:buNone/>
            </a:pPr>
            <a:r>
              <a:rPr lang="en-US" sz="1400" b="1" dirty="0"/>
              <a:t>    Sentence-BERT: Sentence embeddings using Siamese BERT-networks.</a:t>
            </a:r>
          </a:p>
          <a:p>
            <a:pPr>
              <a:buNone/>
            </a:pPr>
            <a:r>
              <a:rPr lang="en-US" sz="1400" b="1" dirty="0"/>
              <a:t>    EMNLP, 2019.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[6] Devlin J., Chang M.-W., Lee K., Toutanova K.</a:t>
            </a:r>
          </a:p>
          <a:p>
            <a:pPr>
              <a:buNone/>
            </a:pPr>
            <a:r>
              <a:rPr lang="en-US" sz="1400" b="1" dirty="0"/>
              <a:t>    BERT: Pre-training of Deep Bidirectional Transformers for Language Understanding.</a:t>
            </a:r>
          </a:p>
          <a:p>
            <a:pPr>
              <a:buNone/>
            </a:pPr>
            <a:r>
              <a:rPr lang="en-US" sz="1400" b="1" dirty="0"/>
              <a:t>    NAACL-HLT, 2019.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[7] McInnes L., Healy J., Melville J.</a:t>
            </a:r>
          </a:p>
          <a:p>
            <a:pPr>
              <a:buNone/>
            </a:pPr>
            <a:r>
              <a:rPr lang="en-US" sz="1400" b="1" dirty="0"/>
              <a:t>    UMAP: Uniform Manifold Approximation and Projection for Dimension Reduction.</a:t>
            </a:r>
          </a:p>
          <a:p>
            <a:pPr>
              <a:buNone/>
            </a:pPr>
            <a:r>
              <a:rPr lang="en-US" sz="1400" b="1" dirty="0"/>
              <a:t>    </a:t>
            </a:r>
            <a:r>
              <a:rPr lang="en-US" sz="1400" b="1" dirty="0" err="1"/>
              <a:t>arXiv</a:t>
            </a:r>
            <a:r>
              <a:rPr lang="en-US" sz="1400" b="1" dirty="0"/>
              <a:t> preprint arXiv:1802.03426, 2018.</a:t>
            </a:r>
          </a:p>
        </p:txBody>
      </p:sp>
    </p:spTree>
    <p:extLst>
      <p:ext uri="{BB962C8B-B14F-4D97-AF65-F5344CB8AC3E}">
        <p14:creationId xmlns:p14="http://schemas.microsoft.com/office/powerpoint/2010/main" val="619225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300 лет СПбГУ">
      <a:dk1>
        <a:srgbClr val="181818"/>
      </a:dk1>
      <a:lt1>
        <a:sysClr val="window" lastClr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2136522</TotalTime>
  <Words>944</Words>
  <Application>Microsoft Office PowerPoint</Application>
  <PresentationFormat>Widescreen</PresentationFormat>
  <Paragraphs>137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Segoe UI</vt:lpstr>
      <vt:lpstr>Times New Roman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Nadja Lapshina</dc:creator>
  <cp:lastModifiedBy>Салман Атмания</cp:lastModifiedBy>
  <cp:revision>219</cp:revision>
  <dcterms:created xsi:type="dcterms:W3CDTF">2022-11-23T08:08:14Z</dcterms:created>
  <dcterms:modified xsi:type="dcterms:W3CDTF">2025-12-26T20:49:32Z</dcterms:modified>
</cp:coreProperties>
</file>